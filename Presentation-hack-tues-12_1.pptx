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78" r:id="rId10"/>
    <p:sldId id="265" r:id="rId11"/>
  </p:sldIdLst>
  <p:sldSz cx="9144000" cy="5143500" type="screen16x9"/>
  <p:notesSz cx="5143500" cy="9144000"/>
  <p:embeddedFontLst>
    <p:embeddedFont>
      <p:font typeface="PT Mono" panose="02060509020205020204" pitchFamily="49" charset="-52"/>
      <p:regular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iml5qiCSj3k9PFfL3kPWsBeWI5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42" y="2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357762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5969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Google Shape;22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5807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77904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Google Shape;47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29954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4038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15567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504617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382793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5DF815D4-7DB7-7D9B-F10A-5546CBBFF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>
            <a:extLst>
              <a:ext uri="{FF2B5EF4-FFF2-40B4-BE49-F238E27FC236}">
                <a16:creationId xmlns:a16="http://schemas.microsoft.com/office/drawing/2014/main" id="{A7E560CF-7A2B-6B96-2A40-A1EA60A65D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" name="Google Shape;103;p9:notes">
            <a:extLst>
              <a:ext uri="{FF2B5EF4-FFF2-40B4-BE49-F238E27FC236}">
                <a16:creationId xmlns:a16="http://schemas.microsoft.com/office/drawing/2014/main" id="{F8FEBD72-535C-891A-0745-7011B2A5D3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9:notes">
            <a:extLst>
              <a:ext uri="{FF2B5EF4-FFF2-40B4-BE49-F238E27FC236}">
                <a16:creationId xmlns:a16="http://schemas.microsoft.com/office/drawing/2014/main" id="{75B5031A-7CBA-D60E-EE02-96CBC329703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113879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8539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321019" y="2571750"/>
            <a:ext cx="5556437" cy="5556437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/>
          <p:nvPr/>
        </p:nvSpPr>
        <p:spPr>
          <a:xfrm>
            <a:off x="814387" y="2089900"/>
            <a:ext cx="7972425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5714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lang="en-US" sz="5000" dirty="0">
                <a:solidFill>
                  <a:srgbClr val="FFFFFF"/>
                </a:solidFill>
                <a:latin typeface="PT Mono"/>
                <a:ea typeface="Calibri"/>
                <a:cs typeface="Calibri"/>
                <a:sym typeface="PT Mono"/>
              </a:rPr>
              <a:t>Waste to Wonder</a:t>
            </a:r>
            <a:endParaRPr sz="5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2567939" y="2991557"/>
            <a:ext cx="446532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PT Mono"/>
              <a:buNone/>
            </a:pPr>
            <a:r>
              <a:rPr lang="en-US" sz="4000" dirty="0">
                <a:solidFill>
                  <a:srgbClr val="FFFFFF"/>
                </a:solidFill>
                <a:latin typeface="PT Mono"/>
                <a:ea typeface="Calibri"/>
                <a:cs typeface="Calibri"/>
                <a:sym typeface="PT Mono"/>
              </a:rPr>
              <a:t>_Insert Name_</a:t>
            </a:r>
            <a:endParaRPr sz="3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3543300" y="3714750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60011" y="4515528"/>
            <a:ext cx="1881178" cy="1996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 descr="A green circle with lines and circles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84762" y="-4019608"/>
            <a:ext cx="7880257" cy="7532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2" descr="A green circle with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328588" y="-2078551"/>
            <a:ext cx="4066523" cy="404756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2244544" y="-2304674"/>
            <a:ext cx="2239782" cy="2195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1450" y="0"/>
            <a:ext cx="233838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2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15075" y="1766888"/>
            <a:ext cx="2828925" cy="337661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/>
          <p:nvPr/>
        </p:nvSpPr>
        <p:spPr>
          <a:xfrm>
            <a:off x="871538" y="490538"/>
            <a:ext cx="7640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Проблемът</a:t>
            </a:r>
            <a:r>
              <a:rPr lang="en-US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и </a:t>
            </a:r>
            <a:r>
              <a:rPr lang="en-US" sz="45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настоящите</a:t>
            </a:r>
            <a:r>
              <a:rPr lang="en-US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решения</a:t>
            </a:r>
            <a:r>
              <a:rPr lang="en-US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endParaRPr sz="4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826642" y="2095501"/>
            <a:ext cx="612101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В света има милиони хора с непотребни вещи, които събират прах, само защото собствениците им не знаят как да ги използват повторно. Настоящите решения са скучни инструкции или теоретични съвети, които не вдъхновяват никого. В резултат на това ценни ресурси отиват на боклука, вместо да бъдат трансформирани в нещо полезно.</a:t>
            </a:r>
            <a:endParaRPr lang="bg-BG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3" descr="A yellow circle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786326" y="-6883855"/>
            <a:ext cx="14460770" cy="1446077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5829300" y="2147888"/>
            <a:ext cx="5100638" cy="510063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" name="Google Shape;40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95938" y="1776413"/>
            <a:ext cx="3548063" cy="3367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52682" y="2695576"/>
            <a:ext cx="2324100" cy="202406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3"/>
          <p:cNvSpPr/>
          <p:nvPr/>
        </p:nvSpPr>
        <p:spPr>
          <a:xfrm>
            <a:off x="871538" y="490538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Цел на проекта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 txBox="1"/>
          <p:nvPr/>
        </p:nvSpPr>
        <p:spPr>
          <a:xfrm>
            <a:off x="1434283" y="1528002"/>
            <a:ext cx="6465933" cy="269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40625"/>
              </a:lnSpc>
              <a:buClr>
                <a:srgbClr val="FFFFFF"/>
              </a:buClr>
              <a:buSzPts val="2400"/>
            </a:pPr>
            <a:r>
              <a:rPr lang="ru-RU" sz="2000" dirty="0">
                <a:solidFill>
                  <a:schemeClr val="bg1"/>
                </a:solidFill>
              </a:rPr>
              <a:t>Да превърнем рециклирането от досадно задължение в забавна игра. Нашата цел е да мотивираме хората да не изхвърлят старото, а да го превръщат в изкуство или полезен предмет, като същевременно се състезават и изграждат общност от еко-легенди.</a:t>
            </a:r>
            <a:endParaRPr sz="20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4" descr="A green circle with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590070" y="-5959528"/>
            <a:ext cx="9286035" cy="92860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81438" y="1900238"/>
            <a:ext cx="5262563" cy="3243263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0993" y="235884"/>
            <a:ext cx="1081088" cy="21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"/>
          <p:cNvSpPr/>
          <p:nvPr/>
        </p:nvSpPr>
        <p:spPr>
          <a:xfrm>
            <a:off x="871538" y="490538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bg-BG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</a:t>
            </a:r>
            <a:r>
              <a:rPr lang="en-US" sz="45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ашето</a:t>
            </a:r>
            <a:r>
              <a:rPr lang="bg-BG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решение</a:t>
            </a:r>
            <a:endParaRPr sz="4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4" descr="A black and gold circle with a dot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63713" y="2011875"/>
            <a:ext cx="6160575" cy="61605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2538413" y="1520935"/>
            <a:ext cx="452913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Интерактивна платформа, която използва изкуствен интелект, за да даде „втори живот“ на всеки предмет. Ние решаваме проблема с липсата на идеи, като предлагаме креативни проекти и награждаваме потребителите за тяхното старание чрез </a:t>
            </a:r>
            <a:r>
              <a:rPr lang="en-US" sz="2000" dirty="0">
                <a:solidFill>
                  <a:schemeClr val="bg1"/>
                </a:solidFill>
              </a:rPr>
              <a:t>Leaderboard.</a:t>
            </a:r>
            <a:endParaRPr lang="bg-BG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/>
          <p:nvPr/>
        </p:nvSpPr>
        <p:spPr>
          <a:xfrm>
            <a:off x="871538" y="495300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Как работи проектът?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" name="Google Shape;65;p5" descr="A green circle with a black backgroun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656057" y="2840477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5" descr="A circular logo with a black background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1" y="100853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2814638" y="1543050"/>
            <a:ext cx="4143374" cy="2928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chemeClr val="bg1"/>
                </a:solidFill>
              </a:rPr>
              <a:t>Потребителят качва снимка на стара вещ, а нашият AI анализира обекта и предлага списък с идеи за </a:t>
            </a:r>
            <a:r>
              <a:rPr lang="en-US" sz="1800" dirty="0">
                <a:solidFill>
                  <a:schemeClr val="bg1"/>
                </a:solidFill>
              </a:rPr>
              <a:t>re</a:t>
            </a:r>
            <a:r>
              <a:rPr lang="ru-RU" sz="1800" dirty="0">
                <a:solidFill>
                  <a:schemeClr val="bg1"/>
                </a:solidFill>
              </a:rPr>
              <a:t>cycling. След като потребителят избере и завърши проекта си, той качва резултата за оценка от общността. Колкото по-висок е рейтингът на творението, толкова по-нагоре се изкачва играчът в световната ранглиста.</a:t>
            </a:r>
            <a:endParaRPr lang="bg-BG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 descr="A black circle with yellow line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114977" y="2000250"/>
            <a:ext cx="6686550" cy="668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7" descr="A screen shot of a clock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71607" y="-329453"/>
            <a:ext cx="4133896" cy="650132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7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Използвани технологии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71538" y="1536214"/>
            <a:ext cx="294503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HTML</a:t>
            </a:r>
          </a:p>
          <a:p>
            <a:r>
              <a:rPr lang="en-US" sz="2800" dirty="0">
                <a:solidFill>
                  <a:schemeClr val="bg1"/>
                </a:solidFill>
              </a:rPr>
              <a:t>CSS</a:t>
            </a:r>
          </a:p>
          <a:p>
            <a:r>
              <a:rPr lang="en-US" sz="2800" dirty="0">
                <a:solidFill>
                  <a:schemeClr val="bg1"/>
                </a:solidFill>
              </a:rPr>
              <a:t>Python – Django</a:t>
            </a:r>
          </a:p>
          <a:p>
            <a:r>
              <a:rPr lang="en-US" sz="2800" dirty="0">
                <a:solidFill>
                  <a:schemeClr val="bg1"/>
                </a:solidFill>
              </a:rPr>
              <a:t>Claude Haiku 4.5</a:t>
            </a:r>
            <a:endParaRPr lang="bg-BG" sz="2800" dirty="0">
              <a:solidFill>
                <a:schemeClr val="bg1"/>
              </a:solidFill>
            </a:endParaRPr>
          </a:p>
        </p:txBody>
      </p:sp>
      <p:pic>
        <p:nvPicPr>
          <p:cNvPr id="3" name="Google Shape;138;p11" descr="preencoded.png">
            <a:extLst>
              <a:ext uri="{FF2B5EF4-FFF2-40B4-BE49-F238E27FC236}">
                <a16:creationId xmlns:a16="http://schemas.microsoft.com/office/drawing/2014/main" id="{C11D0C7B-4506-F33A-DF77-87435A84D37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036495" y="3028950"/>
            <a:ext cx="3300109" cy="221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6272213" y="3495675"/>
            <a:ext cx="3309938" cy="3309938"/>
          </a:xfrm>
          <a:prstGeom prst="ellipse">
            <a:avLst/>
          </a:prstGeom>
          <a:solidFill>
            <a:srgbClr val="FFB803">
              <a:alpha val="69803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67488" y="2390775"/>
            <a:ext cx="2576513" cy="2700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8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6213" y="4763"/>
            <a:ext cx="2033588" cy="50863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8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en-US" sz="45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Процес на работа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8" descr="A green circle with a black background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-2466225" y="3128963"/>
            <a:ext cx="5143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2386014" y="1423988"/>
            <a:ext cx="43576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chemeClr val="bg1"/>
                </a:solidFill>
              </a:rPr>
              <a:t>Започнахме с проучване на проблема и дефиниране на геймификацията. След това преминахме през дизайн на „пиксел арт“ интерфейса и изграждане на логиката за качване на проекти. Финалната фаза включва интегриране на AI алгоритмите и тестване на потребителското преживяване, за да гарантираме, че платформата е едновременно полезна и забавна.</a:t>
            </a:r>
            <a:endParaRPr lang="bg-BG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4338" y="2962275"/>
            <a:ext cx="2724150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0"/>
            <a:ext cx="2809875" cy="48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/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bg-BG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Нашето</a:t>
            </a:r>
            <a:r>
              <a:rPr lang="en-US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 </a:t>
            </a:r>
            <a:r>
              <a:rPr lang="en-US" sz="4500" dirty="0" err="1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преживяване</a:t>
            </a:r>
            <a:endParaRPr sz="4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>
            <a:off x="1764507" y="1590675"/>
            <a:ext cx="5793581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endParaRPr lang="en-US" sz="1800" dirty="0">
              <a:solidFill>
                <a:schemeClr val="bg1"/>
              </a:solidFill>
              <a:latin typeface="PT Mono"/>
              <a:ea typeface="PT Mono"/>
              <a:cs typeface="PT Mono"/>
              <a:sym typeface="PT Mono"/>
            </a:endParaRPr>
          </a:p>
          <a:p>
            <a:pPr lvl="0">
              <a:lnSpc>
                <a:spcPct val="140625"/>
              </a:lnSpc>
              <a:buClr>
                <a:srgbClr val="FFFFFF"/>
              </a:buClr>
              <a:buSzPts val="2400"/>
            </a:pPr>
            <a:r>
              <a:rPr lang="ru-RU" sz="1800" dirty="0">
                <a:solidFill>
                  <a:schemeClr val="bg1"/>
                </a:solidFill>
              </a:rPr>
              <a:t>Научихме се да работим под напрежение и да решаваме проблеми в реално време. Разбрахме, че с правилните технологии и добра екипна работа, една еко-идея може да се превърне в зарибяваща игра.</a:t>
            </a:r>
            <a:endParaRPr sz="18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9" descr="A black and gold circle with black lines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7060" y="2824163"/>
            <a:ext cx="51435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5">
          <a:extLst>
            <a:ext uri="{FF2B5EF4-FFF2-40B4-BE49-F238E27FC236}">
              <a16:creationId xmlns:a16="http://schemas.microsoft.com/office/drawing/2014/main" id="{A381BA38-0075-8E48-5B29-A0BFB8B38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>
            <a:extLst>
              <a:ext uri="{FF2B5EF4-FFF2-40B4-BE49-F238E27FC236}">
                <a16:creationId xmlns:a16="http://schemas.microsoft.com/office/drawing/2014/main" id="{9980C102-5D27-2A99-6990-719408462F0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9" descr="preencoded.png">
            <a:extLst>
              <a:ext uri="{FF2B5EF4-FFF2-40B4-BE49-F238E27FC236}">
                <a16:creationId xmlns:a16="http://schemas.microsoft.com/office/drawing/2014/main" id="{90FE45D5-4612-0BC1-7E5A-92E2BC6DA0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9" descr="preencoded.png">
            <a:extLst>
              <a:ext uri="{FF2B5EF4-FFF2-40B4-BE49-F238E27FC236}">
                <a16:creationId xmlns:a16="http://schemas.microsoft.com/office/drawing/2014/main" id="{4385E59A-E70C-E587-DB3F-0C0699A7CEE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2809875" cy="489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9">
            <a:extLst>
              <a:ext uri="{FF2B5EF4-FFF2-40B4-BE49-F238E27FC236}">
                <a16:creationId xmlns:a16="http://schemas.microsoft.com/office/drawing/2014/main" id="{42CCB780-90E5-E957-D131-9EF4268BCBC2}"/>
              </a:ext>
            </a:extLst>
          </p:cNvPr>
          <p:cNvSpPr/>
          <p:nvPr/>
        </p:nvSpPr>
        <p:spPr>
          <a:xfrm>
            <a:off x="871538" y="500063"/>
            <a:ext cx="7862888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PT Mono"/>
              <a:buNone/>
            </a:pPr>
            <a:r>
              <a:rPr lang="bg-BG" sz="4500" dirty="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Нашият екип</a:t>
            </a:r>
            <a:endParaRPr sz="4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>
            <a:extLst>
              <a:ext uri="{FF2B5EF4-FFF2-40B4-BE49-F238E27FC236}">
                <a16:creationId xmlns:a16="http://schemas.microsoft.com/office/drawing/2014/main" id="{499FDFF4-7452-58DE-907A-3D4DAEFC1828}"/>
              </a:ext>
            </a:extLst>
          </p:cNvPr>
          <p:cNvSpPr/>
          <p:nvPr/>
        </p:nvSpPr>
        <p:spPr>
          <a:xfrm>
            <a:off x="1764507" y="1590675"/>
            <a:ext cx="5793581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T Mono"/>
              <a:buNone/>
            </a:pPr>
            <a:r>
              <a:rPr lang="bg-BG" sz="1800" dirty="0">
                <a:solidFill>
                  <a:schemeClr val="bg1"/>
                </a:solidFill>
                <a:latin typeface="PT Mono"/>
                <a:ea typeface="Calibri"/>
                <a:cs typeface="Calibri"/>
                <a:sym typeface="PT Mono"/>
              </a:rPr>
              <a:t>             </a:t>
            </a:r>
            <a:r>
              <a:rPr lang="bg-BG" sz="1600" dirty="0">
                <a:solidFill>
                  <a:schemeClr val="bg1"/>
                </a:solidFill>
                <a:latin typeface="PT Mono"/>
                <a:ea typeface="Calibri"/>
                <a:cs typeface="Calibri"/>
                <a:sym typeface="PT Mono"/>
              </a:rPr>
              <a:t>Ментор: Антон Малинов</a:t>
            </a:r>
          </a:p>
          <a:p>
            <a:pPr marL="285750" marR="0" lvl="0" indent="-285750" algn="l" rtl="0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Tx/>
              <a:buChar char="-"/>
            </a:pPr>
            <a:r>
              <a:rPr lang="bg-BG" sz="1800" dirty="0">
                <a:solidFill>
                  <a:schemeClr val="bg1"/>
                </a:solidFill>
                <a:latin typeface="PT Mono"/>
                <a:ea typeface="Calibri"/>
                <a:cs typeface="Calibri"/>
                <a:sym typeface="PT Mono"/>
              </a:rPr>
              <a:t>Анастасия Маринска</a:t>
            </a:r>
          </a:p>
          <a:p>
            <a:pPr marR="0" lvl="0" algn="l" rtl="0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</a:pPr>
            <a:endParaRPr lang="en-US" sz="1800" dirty="0">
              <a:solidFill>
                <a:schemeClr val="bg1"/>
              </a:solidFill>
              <a:latin typeface="PT Mono"/>
              <a:ea typeface="Calibri"/>
              <a:cs typeface="Calibri"/>
              <a:sym typeface="PT Mono"/>
            </a:endParaRPr>
          </a:p>
          <a:p>
            <a:pPr marL="285750" marR="0" lvl="0" indent="-285750" algn="l" rtl="0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Tx/>
              <a:buChar char="-"/>
            </a:pPr>
            <a:r>
              <a:rPr lang="bg-BG" sz="1800" dirty="0">
                <a:solidFill>
                  <a:schemeClr val="bg1"/>
                </a:solidFill>
                <a:latin typeface="PT Mono"/>
                <a:ea typeface="Calibri"/>
                <a:cs typeface="Calibri"/>
                <a:sym typeface="PT Mono"/>
              </a:rPr>
              <a:t>Преслава Митева</a:t>
            </a:r>
          </a:p>
          <a:p>
            <a:pPr marL="285750" marR="0" lvl="0" indent="-285750" algn="l" rtl="0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Tx/>
              <a:buChar char="-"/>
            </a:pPr>
            <a:endParaRPr lang="bg-BG" sz="1800" dirty="0">
              <a:solidFill>
                <a:schemeClr val="bg1"/>
              </a:solidFill>
              <a:latin typeface="PT Mono"/>
              <a:ea typeface="Calibri"/>
              <a:cs typeface="Calibri"/>
              <a:sym typeface="PT Mono"/>
            </a:endParaRPr>
          </a:p>
          <a:p>
            <a:pPr marL="285750" marR="0" lvl="0" indent="-285750" algn="l" rtl="0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Tx/>
              <a:buChar char="-"/>
            </a:pPr>
            <a:r>
              <a:rPr lang="bg-BG" sz="1800" dirty="0">
                <a:solidFill>
                  <a:schemeClr val="bg1"/>
                </a:solidFill>
                <a:latin typeface="PT Mono"/>
                <a:ea typeface="Calibri"/>
                <a:cs typeface="Calibri"/>
                <a:sym typeface="PT Mono"/>
              </a:rPr>
              <a:t>Яна Нинова</a:t>
            </a:r>
          </a:p>
          <a:p>
            <a:pPr marL="285750" marR="0" lvl="0" indent="-285750" algn="l" rtl="0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Tx/>
              <a:buChar char="-"/>
            </a:pPr>
            <a:endParaRPr lang="bg-BG" sz="1800" dirty="0">
              <a:solidFill>
                <a:schemeClr val="bg1"/>
              </a:solidFill>
              <a:latin typeface="PT Mono"/>
              <a:ea typeface="Calibri"/>
              <a:cs typeface="Calibri"/>
              <a:sym typeface="PT Mono"/>
            </a:endParaRPr>
          </a:p>
          <a:p>
            <a:pPr marL="285750" marR="0" lvl="0" indent="-285750" algn="l" rtl="0">
              <a:lnSpc>
                <a:spcPct val="14062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Tx/>
              <a:buChar char="-"/>
            </a:pPr>
            <a:r>
              <a:rPr lang="bg-BG" sz="1800" dirty="0">
                <a:solidFill>
                  <a:schemeClr val="bg1"/>
                </a:solidFill>
                <a:latin typeface="PT Mono"/>
                <a:ea typeface="Calibri"/>
                <a:cs typeface="Calibri"/>
                <a:sym typeface="PT Mono"/>
              </a:rPr>
              <a:t>Георги Мерджанов</a:t>
            </a:r>
            <a:endParaRPr sz="18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9" descr="A black and gold circle with black lines&#10;&#10;Description automatically generated">
            <a:extLst>
              <a:ext uri="{FF2B5EF4-FFF2-40B4-BE49-F238E27FC236}">
                <a16:creationId xmlns:a16="http://schemas.microsoft.com/office/drawing/2014/main" id="{2F32BFB4-7FE0-7D24-EAB3-B3D9ED6A5BC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7060" y="2824163"/>
            <a:ext cx="51435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37;p11" descr="preencoded.png">
            <a:extLst>
              <a:ext uri="{FF2B5EF4-FFF2-40B4-BE49-F238E27FC236}">
                <a16:creationId xmlns:a16="http://schemas.microsoft.com/office/drawing/2014/main" id="{249B86BD-DDD3-471F-6D92-58B28045759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90576" y="2319699"/>
            <a:ext cx="2615281" cy="29997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7921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0" descr="A circular object with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21475" y="428319"/>
            <a:ext cx="10786950" cy="1078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0"/>
          <p:cNvSpPr/>
          <p:nvPr/>
        </p:nvSpPr>
        <p:spPr>
          <a:xfrm>
            <a:off x="871538" y="2047875"/>
            <a:ext cx="7862888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82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T Mono"/>
              <a:buNone/>
            </a:pPr>
            <a:r>
              <a:rPr lang="en-US" sz="5000">
                <a:solidFill>
                  <a:srgbClr val="FFFFFF"/>
                </a:solidFill>
                <a:latin typeface="PT Mono"/>
                <a:ea typeface="PT Mono"/>
                <a:cs typeface="PT Mono"/>
                <a:sym typeface="PT Mono"/>
              </a:rPr>
              <a:t>Благодарим ви за вниманието!</a:t>
            </a:r>
            <a:endParaRPr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3543300" y="3933825"/>
            <a:ext cx="2519363" cy="94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46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1411" y="4515528"/>
            <a:ext cx="1881178" cy="199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348</Words>
  <Application>Microsoft Office PowerPoint</Application>
  <PresentationFormat>Презентация на цял екран (16:9)</PresentationFormat>
  <Paragraphs>40</Paragraphs>
  <Slides>10</Slides>
  <Notes>10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10</vt:i4>
      </vt:variant>
    </vt:vector>
  </HeadingPairs>
  <TitlesOfParts>
    <vt:vector size="14" baseType="lpstr">
      <vt:lpstr>PT Mono</vt:lpstr>
      <vt:lpstr>Calibri</vt:lpstr>
      <vt:lpstr>Arial</vt:lpstr>
      <vt:lpstr>Office Theme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PptxGenJS</dc:creator>
  <cp:lastModifiedBy>Anastasia M</cp:lastModifiedBy>
  <cp:revision>9</cp:revision>
  <dcterms:created xsi:type="dcterms:W3CDTF">2026-01-15T12:11:17Z</dcterms:created>
  <dcterms:modified xsi:type="dcterms:W3CDTF">2026-03-27T23:45:32Z</dcterms:modified>
</cp:coreProperties>
</file>